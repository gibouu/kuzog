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F1419"/>
                </a:solidFill>
                <a:latin typeface="Helvetica Neue"/>
              </a:rPr>
              <a:t>Hydrobio — 3-Component Synergy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Helvetica Neue"/>
              </a:rPr>
              <a:t>D-1</a:t>
            </a:r>
          </a:p>
        </p:txBody>
      </p:sp>
      <p:sp>
        <p:nvSpPr>
          <p:cNvPr id="4" name="Oval 3"/>
          <p:cNvSpPr/>
          <p:nvPr/>
        </p:nvSpPr>
        <p:spPr>
          <a:xfrm>
            <a:off x="4084624" y="137160"/>
            <a:ext cx="4023360" cy="4023360"/>
          </a:xfrm>
          <a:prstGeom prst="ellipse">
            <a:avLst/>
          </a:prstGeom>
          <a:solidFill>
            <a:srgbClr val="7A8C7E">
              <a:alpha val="45000"/>
            </a:srgbClr>
          </a:solidFill>
          <a:ln w="25400">
            <a:solidFill>
              <a:srgbClr val="7A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91248" y="2400300"/>
            <a:ext cx="4023360" cy="4023360"/>
          </a:xfrm>
          <a:prstGeom prst="ellipse">
            <a:avLst/>
          </a:prstGeom>
          <a:solidFill>
            <a:srgbClr val="7A8C7E">
              <a:alpha val="45000"/>
            </a:srgbClr>
          </a:solidFill>
          <a:ln w="25400">
            <a:solidFill>
              <a:srgbClr val="7A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77999" y="2400300"/>
            <a:ext cx="4023360" cy="4023360"/>
          </a:xfrm>
          <a:prstGeom prst="ellipse">
            <a:avLst/>
          </a:prstGeom>
          <a:solidFill>
            <a:srgbClr val="7A8C7E">
              <a:alpha val="45000"/>
            </a:srgbClr>
          </a:solidFill>
          <a:ln w="25400">
            <a:solidFill>
              <a:srgbClr val="7A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99024" y="-5029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419"/>
                </a:solidFill>
                <a:latin typeface="Helvetica Neue"/>
              </a:rPr>
              <a:t>Micronised
Clay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7328" y="52349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419"/>
                </a:solidFill>
                <a:latin typeface="Helvetica Neue"/>
              </a:rPr>
              <a:t>Mycorrhizal
Consortium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0719" y="52349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419"/>
                </a:solidFill>
                <a:latin typeface="Helvetica Neue"/>
              </a:rPr>
              <a:t>Micronised
Zeolite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1904" y="33375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elvetica Neue"/>
              </a:rPr>
              <a:t>Synergy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F1419"/>
                </a:solidFill>
                <a:latin typeface="Helvetica Neue"/>
              </a:rPr>
              <a:t>Hydrobio — Revenue Trajectory 2026–2030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Helvetica Neue"/>
              </a:rPr>
              <a:t>D-2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71600" y="5852160"/>
            <a:ext cx="960120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71600" y="1280160"/>
            <a:ext cx="0" cy="457200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80160" y="5852160.0"/>
            <a:ext cx="91440" cy="0.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5669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99999"/>
                </a:solidFill>
                <a:latin typeface="Helvetica Neue"/>
              </a:rPr>
              <a:t>€0M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80160" y="4937760.0"/>
            <a:ext cx="91440" cy="0.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47548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99999"/>
                </a:solidFill>
                <a:latin typeface="Helvetica Neue"/>
              </a:rPr>
              <a:t>€5M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80160" y="4023360.0"/>
            <a:ext cx="91440" cy="0.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8404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99999"/>
                </a:solidFill>
                <a:latin typeface="Helvetica Neue"/>
              </a:rPr>
              <a:t>€10M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80160" y="3108960.0"/>
            <a:ext cx="91440" cy="0.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2926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99999"/>
                </a:solidFill>
                <a:latin typeface="Helvetica Neue"/>
              </a:rPr>
              <a:t>€15M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80160" y="2194560.0"/>
            <a:ext cx="91440" cy="0.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20116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99999"/>
                </a:solidFill>
                <a:latin typeface="Helvetica Neue"/>
              </a:rPr>
              <a:t>€20M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80160" y="1280160.0"/>
            <a:ext cx="91440" cy="0.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1097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99999"/>
                </a:solidFill>
                <a:latin typeface="Helvetica Neue"/>
              </a:rPr>
              <a:t>€25M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989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419"/>
                </a:solidFill>
                <a:latin typeface="Helvetica Neue"/>
              </a:rPr>
              <a:t>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6140" y="5989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419"/>
                </a:solidFill>
                <a:latin typeface="Helvetica Neue"/>
              </a:rPr>
              <a:t>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5989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419"/>
                </a:solidFill>
                <a:latin typeface="Helvetica Neue"/>
              </a:rPr>
              <a:t>2028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6740" y="5989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419"/>
                </a:solidFill>
                <a:latin typeface="Helvetica Neue"/>
              </a:rPr>
              <a:t>2029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5989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419"/>
                </a:solidFill>
                <a:latin typeface="Helvetica Neue"/>
              </a:rPr>
              <a:t>2030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1371600.0" y="5394960.0"/>
            <a:ext cx="2400300.0" cy="402336.0"/>
          </a:xfrm>
          <a:prstGeom prst="line">
            <a:avLst/>
          </a:prstGeom>
          <a:ln w="444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771900.0" y="4572000.0"/>
            <a:ext cx="2400300.0" cy="822960.0"/>
          </a:xfrm>
          <a:prstGeom prst="line">
            <a:avLst/>
          </a:prstGeom>
          <a:ln w="444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172200.0" y="3291840.0"/>
            <a:ext cx="2400300.0" cy="1280160.0"/>
          </a:xfrm>
          <a:prstGeom prst="line">
            <a:avLst/>
          </a:prstGeom>
          <a:ln w="444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572500.0" y="1828800.0"/>
            <a:ext cx="2400300.0" cy="1463040.0"/>
          </a:xfrm>
          <a:prstGeom prst="line">
            <a:avLst/>
          </a:prstGeom>
          <a:ln w="444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261872" y="5687568"/>
            <a:ext cx="219456" cy="219456"/>
          </a:xfrm>
          <a:prstGeom prst="ellipse">
            <a:avLst/>
          </a:prstGeom>
          <a:solidFill>
            <a:srgbClr val="7A8C7E"/>
          </a:solidFill>
          <a:ln w="25400">
            <a:solidFill>
              <a:srgbClr val="7A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662172" y="5285232"/>
            <a:ext cx="219456" cy="219456"/>
          </a:xfrm>
          <a:prstGeom prst="ellipse">
            <a:avLst/>
          </a:prstGeom>
          <a:solidFill>
            <a:srgbClr val="7A8C7E"/>
          </a:solidFill>
          <a:ln w="25400">
            <a:solidFill>
              <a:srgbClr val="7A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62472" y="4462272"/>
            <a:ext cx="219456" cy="219456"/>
          </a:xfrm>
          <a:prstGeom prst="ellipse">
            <a:avLst/>
          </a:prstGeom>
          <a:solidFill>
            <a:srgbClr val="7A8C7E"/>
          </a:solidFill>
          <a:ln w="25400">
            <a:solidFill>
              <a:srgbClr val="7A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62772" y="3182112"/>
            <a:ext cx="219456" cy="219456"/>
          </a:xfrm>
          <a:prstGeom prst="ellipse">
            <a:avLst/>
          </a:prstGeom>
          <a:solidFill>
            <a:srgbClr val="7A8C7E"/>
          </a:solidFill>
          <a:ln w="25400">
            <a:solidFill>
              <a:srgbClr val="7A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863072" y="1719072"/>
            <a:ext cx="219456" cy="219456"/>
          </a:xfrm>
          <a:prstGeom prst="ellipse">
            <a:avLst/>
          </a:prstGeom>
          <a:solidFill>
            <a:srgbClr val="7A8C7E"/>
          </a:solidFill>
          <a:ln w="25400">
            <a:solidFill>
              <a:srgbClr val="7A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4023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8C7E"/>
                </a:solidFill>
                <a:latin typeface="Helvetica Neue"/>
              </a:rPr>
              <a:t>Break-even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72200.0" y="4370832.0"/>
            <a:ext cx="0.0" cy="201168.0"/>
          </a:xfrm>
          <a:prstGeom prst="line">
            <a:avLst/>
          </a:prstGeom>
          <a:ln w="1270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149840" y="1280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A8C7E"/>
                </a:solidFill>
                <a:latin typeface="Helvetica Neue"/>
              </a:rPr>
              <a:t>€22M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" y="3200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99999"/>
                </a:solidFill>
                <a:latin typeface="Helvetica Neue"/>
              </a:rPr>
              <a:t>Revenue (€M)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F1419"/>
                </a:solidFill>
                <a:latin typeface="Helvetica Neue"/>
              </a:rPr>
              <a:t>Microplantes — Density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Helvetica Neue"/>
              </a:rPr>
              <a:t>D-3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72184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F1419"/>
                </a:solidFill>
                <a:latin typeface="Helvetica Neue"/>
              </a:rPr>
              <a:t>Microplantes (5-tier shelving)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417320"/>
            <a:ext cx="7772400" cy="420624"/>
          </a:xfrm>
          <a:prstGeom prst="rect">
            <a:avLst/>
          </a:prstGeom>
          <a:solidFill>
            <a:srgbClr val="5F8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39728" y="1490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F8A4F"/>
                </a:solidFill>
                <a:latin typeface="Helvetica Neue"/>
              </a:rPr>
              <a:t>19,000 plants/m²/yr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39728" y="179222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8C7E"/>
                </a:solidFill>
                <a:latin typeface="Helvetica Neue"/>
              </a:rPr>
              <a:t>→ 370 m² for 7M plants/yr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99999"/>
                </a:solidFill>
                <a:latin typeface="Helvetica Neue"/>
              </a:rPr>
              <a:t>Intensive greenhouse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2093976"/>
            <a:ext cx="45720" cy="420624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3048" y="21671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Helvetica Neue"/>
              </a:rPr>
              <a:t>100 plants/m²/yr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048" y="24688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Helvetica Neue"/>
              </a:rPr>
              <a:t>→ 7 ha for 7M plants/yr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25496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99999"/>
                </a:solidFill>
                <a:latin typeface="Helvetica Neue"/>
              </a:rPr>
              <a:t>Strawberry stolons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770632"/>
            <a:ext cx="45720" cy="420624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3048" y="28437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Helvetica Neue"/>
              </a:rPr>
              <a:t>50 plants/m²/yr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314553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Helvetica Neue"/>
              </a:rPr>
              <a:t>→ 14 ha for 7M plants/yr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02152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99999"/>
                </a:solidFill>
                <a:latin typeface="Helvetica Neue"/>
              </a:rPr>
              <a:t>Raspberry drageons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447288"/>
            <a:ext cx="45720" cy="420624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13048" y="3520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Helvetica Neue"/>
              </a:rPr>
              <a:t>30 plants/m²/yr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3048" y="38221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Helvetica Neue"/>
              </a:rPr>
              <a:t>→ 23 ha for 7M plants/yr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78808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99999"/>
                </a:solidFill>
                <a:latin typeface="Helvetica Neue"/>
              </a:rPr>
              <a:t>Tree grafting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4123944"/>
            <a:ext cx="45720" cy="420624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13048" y="41970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Helvetica Neue"/>
              </a:rPr>
              <a:t>5 plants/m²/yr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3048" y="44988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Helvetica Neue"/>
              </a:rPr>
              <a:t>→ 140 ha for 7M plants/yr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72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99999"/>
                </a:solidFill>
                <a:latin typeface="Helvetica Neue"/>
              </a:rPr>
              <a:t>All methods producing 7 million plants per year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F1419"/>
                </a:solidFill>
                <a:latin typeface="Helvetica Neue"/>
              </a:rPr>
              <a:t>Microplantes — Site Floor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Helvetica Neue"/>
              </a:rPr>
              <a:t>D-4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280160"/>
            <a:ext cx="10058400" cy="4937760"/>
          </a:xfrm>
          <a:prstGeom prst="rect">
            <a:avLst/>
          </a:prstGeom>
          <a:solidFill>
            <a:srgbClr val="F2F4F2"/>
          </a:solidFill>
          <a:ln w="254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Helvetica Neue"/>
              </a:rPr>
              <a:t>Land boundary — 1,307 m²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0" y="1737360"/>
            <a:ext cx="914400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4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419"/>
                </a:solidFill>
                <a:latin typeface="Helvetica Neue"/>
              </a:rPr>
              <a:t>Building — 952 m²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54480" y="3749040.0"/>
            <a:ext cx="9144000" cy="0.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64592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Helvetica Neue"/>
              </a:rPr>
              <a:t>Floor 1 (Ground)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31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Helvetica Neue"/>
              </a:rPr>
              <a:t>Floor 2 (Upper)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3822192"/>
            <a:ext cx="5029200" cy="1730044"/>
          </a:xfrm>
          <a:prstGeom prst="rect">
            <a:avLst/>
          </a:prstGeom>
          <a:solidFill>
            <a:srgbClr val="E8F0E9"/>
          </a:solidFill>
          <a:ln w="25400">
            <a:solidFill>
              <a:srgbClr val="7A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38953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8C7E"/>
                </a:solidFill>
                <a:latin typeface="Helvetica Neue"/>
              </a:rPr>
              <a:t>ISO 5 Cleanroom — 370 m²</a:t>
            </a:r>
          </a:p>
        </p:txBody>
      </p:sp>
      <p:sp>
        <p:nvSpPr>
          <p:cNvPr id="13" name="Oval 12"/>
          <p:cNvSpPr/>
          <p:nvPr/>
        </p:nvSpPr>
        <p:spPr>
          <a:xfrm>
            <a:off x="4512564" y="4288536"/>
            <a:ext cx="256032" cy="256032"/>
          </a:xfrm>
          <a:prstGeom prst="ellipse">
            <a:avLst/>
          </a:prstGeom>
          <a:solidFill>
            <a:srgbClr val="5F8A4F"/>
          </a:solidFill>
          <a:ln w="25400">
            <a:solidFill>
              <a:srgbClr val="5F8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69864" y="4288536"/>
            <a:ext cx="256032" cy="256032"/>
          </a:xfrm>
          <a:prstGeom prst="ellipse">
            <a:avLst/>
          </a:prstGeom>
          <a:solidFill>
            <a:srgbClr val="5F8A4F"/>
          </a:solidFill>
          <a:ln w="25400">
            <a:solidFill>
              <a:srgbClr val="5F8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27164" y="4288536"/>
            <a:ext cx="256032" cy="256032"/>
          </a:xfrm>
          <a:prstGeom prst="ellipse">
            <a:avLst/>
          </a:prstGeom>
          <a:solidFill>
            <a:srgbClr val="5F8A4F"/>
          </a:solidFill>
          <a:ln w="25400">
            <a:solidFill>
              <a:srgbClr val="5F8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61104" y="4882896"/>
            <a:ext cx="256032" cy="256032"/>
          </a:xfrm>
          <a:prstGeom prst="ellipse">
            <a:avLst/>
          </a:prstGeom>
          <a:solidFill>
            <a:srgbClr val="5F8A4F"/>
          </a:solidFill>
          <a:ln w="25400">
            <a:solidFill>
              <a:srgbClr val="5F8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66944" y="4882896"/>
            <a:ext cx="256032" cy="256032"/>
          </a:xfrm>
          <a:prstGeom prst="ellipse">
            <a:avLst/>
          </a:prstGeom>
          <a:solidFill>
            <a:srgbClr val="5F8A4F"/>
          </a:solidFill>
          <a:ln w="25400">
            <a:solidFill>
              <a:srgbClr val="5F8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72784" y="4882896"/>
            <a:ext cx="256032" cy="256032"/>
          </a:xfrm>
          <a:prstGeom prst="ellipse">
            <a:avLst/>
          </a:prstGeom>
          <a:solidFill>
            <a:srgbClr val="5F8A4F"/>
          </a:solidFill>
          <a:ln w="25400">
            <a:solidFill>
              <a:srgbClr val="5F8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78624" y="4882896"/>
            <a:ext cx="256032" cy="256032"/>
          </a:xfrm>
          <a:prstGeom prst="ellipse">
            <a:avLst/>
          </a:prstGeom>
          <a:solidFill>
            <a:srgbClr val="5F8A4F"/>
          </a:solidFill>
          <a:ln w="25400">
            <a:solidFill>
              <a:srgbClr val="5F8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61104" y="5477256"/>
            <a:ext cx="256032" cy="256032"/>
          </a:xfrm>
          <a:prstGeom prst="ellipse">
            <a:avLst/>
          </a:prstGeom>
          <a:solidFill>
            <a:srgbClr val="5F8A4F"/>
          </a:solidFill>
          <a:ln w="25400">
            <a:solidFill>
              <a:srgbClr val="5F8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66944" y="5477256"/>
            <a:ext cx="256032" cy="256032"/>
          </a:xfrm>
          <a:prstGeom prst="ellipse">
            <a:avLst/>
          </a:prstGeom>
          <a:solidFill>
            <a:srgbClr val="5F8A4F"/>
          </a:solidFill>
          <a:ln w="25400">
            <a:solidFill>
              <a:srgbClr val="5F8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72784" y="5477256"/>
            <a:ext cx="256032" cy="256032"/>
          </a:xfrm>
          <a:prstGeom prst="ellipse">
            <a:avLst/>
          </a:prstGeom>
          <a:solidFill>
            <a:srgbClr val="5F8A4F"/>
          </a:solidFill>
          <a:ln w="25400">
            <a:solidFill>
              <a:srgbClr val="5F8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78624" y="5477256"/>
            <a:ext cx="256032" cy="256032"/>
          </a:xfrm>
          <a:prstGeom prst="ellipse">
            <a:avLst/>
          </a:prstGeom>
          <a:solidFill>
            <a:srgbClr val="5F8A4F"/>
          </a:solidFill>
          <a:ln w="25400">
            <a:solidFill>
              <a:srgbClr val="5F8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51407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8A4F"/>
                </a:solidFill>
                <a:latin typeface="Helvetica Neue"/>
              </a:rPr>
              <a:t>● Hood positions (×11)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F1419"/>
                </a:solidFill>
                <a:latin typeface="Helvetica Neue"/>
              </a:rPr>
              <a:t>France ↔ Costa Rica — Partnership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Helvetica Neue"/>
              </a:rPr>
              <a:t>D-5</a:t>
            </a:r>
          </a:p>
        </p:txBody>
      </p:sp>
      <p:sp>
        <p:nvSpPr>
          <p:cNvPr id="4" name="Oval 3"/>
          <p:cNvSpPr/>
          <p:nvPr/>
        </p:nvSpPr>
        <p:spPr>
          <a:xfrm>
            <a:off x="8522208" y="3675888"/>
            <a:ext cx="329184" cy="329184"/>
          </a:xfrm>
          <a:prstGeom prst="ellipse">
            <a:avLst/>
          </a:prstGeom>
          <a:solidFill>
            <a:srgbClr val="7A8C7E"/>
          </a:solidFill>
          <a:ln w="25400">
            <a:solidFill>
              <a:srgbClr val="7A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578608" y="3950208"/>
            <a:ext cx="329184" cy="329184"/>
          </a:xfrm>
          <a:prstGeom prst="ellipse">
            <a:avLst/>
          </a:prstGeom>
          <a:solidFill>
            <a:srgbClr val="7A8C7E"/>
          </a:solidFill>
          <a:ln w="25400">
            <a:solidFill>
              <a:srgbClr val="7A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409651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419"/>
                </a:solidFill>
                <a:latin typeface="Helvetica Neue"/>
              </a:rPr>
              <a:t>Boissy-l'Aillerie
France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370832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419"/>
                </a:solidFill>
                <a:latin typeface="Helvetica Neue"/>
              </a:rPr>
              <a:t>Alajuela
Costa Rica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743200.0" y="3911803.2"/>
            <a:ext cx="148590.0" cy="202996.7999999998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891790.0" y="3718864.8"/>
            <a:ext cx="148590.0" cy="192938.40000000037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040380.0" y="3535984.8"/>
            <a:ext cx="148590.0" cy="182880.0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188970.0" y="3363163.2"/>
            <a:ext cx="148590.0" cy="172821.59999999963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337560.0" y="3200400.0"/>
            <a:ext cx="148590.0" cy="162763.2000000002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486150.0" y="3047695.2"/>
            <a:ext cx="148590.0" cy="152704.7999999998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634740.0" y="2905048.8"/>
            <a:ext cx="148590.0" cy="142646.40000000037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783330.0" y="2772460.8"/>
            <a:ext cx="148590.0" cy="132588.0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931920.0" y="2649931.2"/>
            <a:ext cx="148590.0" cy="122529.59999999963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080510.0" y="2537460.0"/>
            <a:ext cx="148590.0" cy="112471.20000000019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229100.0" y="2435047.2"/>
            <a:ext cx="148590.0" cy="102412.79999999981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377690.0" y="2342692.8"/>
            <a:ext cx="148590.0" cy="92354.40000000037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526280.0" y="2260396.8"/>
            <a:ext cx="148590.0" cy="82296.0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674870.0" y="2188159.2"/>
            <a:ext cx="148590.0" cy="72237.59999999963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823460.0" y="2125980.0"/>
            <a:ext cx="148590.0" cy="62179.200000000186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972050.0" y="2073859.2000000002"/>
            <a:ext cx="148590.0" cy="52120.799999999814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120640.0" y="2031796.8"/>
            <a:ext cx="148590.0" cy="42062.40000000014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269230.0" y="1999792.7999999998"/>
            <a:ext cx="148590.0" cy="32004.000000000233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417820.0" y="1977847.2"/>
            <a:ext cx="148590.0" cy="21945.59999999986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566410.0" y="1965960.0"/>
            <a:ext cx="148590.0" cy="11887.199999999953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715000.0" y="1964131.2000000002"/>
            <a:ext cx="148590.0" cy="1828.7999999998137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63590.0" y="1964131.2000000002"/>
            <a:ext cx="148590.0" cy="8229.600000000093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12180.0" y="1972360.8000000003"/>
            <a:ext cx="148590.0" cy="18287.999999999534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160770.0" y="1990648.7999999998"/>
            <a:ext cx="148590.0" cy="28346.40000000014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309360.0" y="2018995.2"/>
            <a:ext cx="148590.0" cy="38404.80000000005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457950.0" y="2057400.0"/>
            <a:ext cx="148590.0" cy="48463.200000000186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606540.0" y="2105863.2"/>
            <a:ext cx="148590.0" cy="58521.60000000009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755130.0" y="2164384.8000000003"/>
            <a:ext cx="148590.0" cy="68579.99999999953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903720.0" y="2232964.8"/>
            <a:ext cx="148590.0" cy="78638.40000000037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052310.0" y="2311603.2"/>
            <a:ext cx="148590.0" cy="88696.79999999981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200900.0" y="2400300.0"/>
            <a:ext cx="148590.0" cy="98755.20000000019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349490.0" y="2499055.2"/>
            <a:ext cx="148590.0" cy="108813.6000000001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498080.0" y="2607868.8000000003"/>
            <a:ext cx="148590.0" cy="118871.99999999953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646670.0" y="2726740.8"/>
            <a:ext cx="148590.0" cy="128930.3999999999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795260.0" y="2855671.1999999997"/>
            <a:ext cx="148590.0" cy="138988.80000000028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943850.0" y="2994660.0"/>
            <a:ext cx="148590.0" cy="149047.2000000002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092440.0" y="3143707.2"/>
            <a:ext cx="148590.0" cy="159105.6000000001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241030.0" y="3302812.8000000003"/>
            <a:ext cx="148590.0" cy="169163.99999999953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89620.0" y="3471976.8"/>
            <a:ext cx="148590.0" cy="179222.3999999999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538210.0" y="3651199.1999999997"/>
            <a:ext cx="148590.0" cy="189280.80000000028"/>
          </a:xfrm>
          <a:prstGeom prst="line">
            <a:avLst/>
          </a:prstGeom>
          <a:ln w="31750">
            <a:solidFill>
              <a:srgbClr val="7A8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3579876" y="2992831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A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20340" y="2453335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A8C7E"/>
                </a:solidFill>
                <a:latin typeface="Helvetica Neue"/>
              </a:rPr>
              <a:t>Know-how transfer</a:t>
            </a:r>
          </a:p>
        </p:txBody>
      </p:sp>
      <p:sp>
        <p:nvSpPr>
          <p:cNvPr id="50" name="Oval 49"/>
          <p:cNvSpPr/>
          <p:nvPr/>
        </p:nvSpPr>
        <p:spPr>
          <a:xfrm>
            <a:off x="4471416" y="2287828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A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11880" y="17483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A8C7E"/>
                </a:solidFill>
                <a:latin typeface="Helvetica Neue"/>
              </a:rPr>
              <a:t>Staff training</a:t>
            </a:r>
          </a:p>
        </p:txBody>
      </p:sp>
      <p:sp>
        <p:nvSpPr>
          <p:cNvPr id="52" name="Oval 51"/>
          <p:cNvSpPr/>
          <p:nvPr/>
        </p:nvSpPr>
        <p:spPr>
          <a:xfrm>
            <a:off x="5660136" y="1911096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A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0060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A8C7E"/>
                </a:solidFill>
                <a:latin typeface="Helvetica Neue"/>
              </a:rPr>
              <a:t>Day-1 supervision</a:t>
            </a:r>
          </a:p>
        </p:txBody>
      </p:sp>
      <p:sp>
        <p:nvSpPr>
          <p:cNvPr id="54" name="Oval 53"/>
          <p:cNvSpPr/>
          <p:nvPr/>
        </p:nvSpPr>
        <p:spPr>
          <a:xfrm>
            <a:off x="6729984" y="2122432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A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70448" y="158293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A8C7E"/>
                </a:solidFill>
                <a:latin typeface="Helvetica Neue"/>
              </a:rPr>
              <a:t>Process license</a:t>
            </a:r>
          </a:p>
        </p:txBody>
      </p:sp>
      <p:sp>
        <p:nvSpPr>
          <p:cNvPr id="56" name="Oval 55"/>
          <p:cNvSpPr/>
          <p:nvPr/>
        </p:nvSpPr>
        <p:spPr>
          <a:xfrm>
            <a:off x="7621524" y="2696858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A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61988" y="215736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A8C7E"/>
                </a:solidFill>
                <a:latin typeface="Helvetica Neue"/>
              </a:rPr>
              <a:t>Joint R&amp;D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98079" y="2560320"/>
            <a:ext cx="1645920" cy="201168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863840" y="4572000"/>
            <a:ext cx="914400" cy="73152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828800" y="2011680"/>
            <a:ext cx="2011680" cy="347472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194560" y="5486400"/>
            <a:ext cx="1097280" cy="73152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522208" y="3675888"/>
            <a:ext cx="329184" cy="329184"/>
          </a:xfrm>
          <a:prstGeom prst="ellipse">
            <a:avLst/>
          </a:prstGeom>
          <a:solidFill>
            <a:srgbClr val="7A8C7E"/>
          </a:solidFill>
          <a:ln w="25400">
            <a:solidFill>
              <a:srgbClr val="7A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578608" y="3950208"/>
            <a:ext cx="329184" cy="329184"/>
          </a:xfrm>
          <a:prstGeom prst="ellipse">
            <a:avLst/>
          </a:prstGeom>
          <a:solidFill>
            <a:srgbClr val="7A8C7E"/>
          </a:solidFill>
          <a:ln w="25400">
            <a:solidFill>
              <a:srgbClr val="7A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F1419"/>
                </a:solidFill>
                <a:latin typeface="Helvetica Neue"/>
              </a:rPr>
              <a:t>Microplantes — Capital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Helvetica Neue"/>
              </a:rPr>
              <a:t>D-6</a:t>
            </a:r>
          </a:p>
        </p:txBody>
      </p:sp>
      <p:sp>
        <p:nvSpPr>
          <p:cNvPr id="4" name="Rectangle 3"/>
          <p:cNvSpPr/>
          <p:nvPr/>
        </p:nvSpPr>
        <p:spPr>
          <a:xfrm>
            <a:off x="4907584" y="1371600"/>
            <a:ext cx="2377440" cy="640080"/>
          </a:xfrm>
          <a:prstGeom prst="rect">
            <a:avLst/>
          </a:prstGeom>
          <a:solidFill>
            <a:srgbClr val="F0F5F1"/>
          </a:solidFill>
          <a:ln w="19050">
            <a:solidFill>
              <a:srgbClr val="7A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07584" y="152704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419"/>
                </a:solidFill>
                <a:latin typeface="Helvetica Neue"/>
              </a:rPr>
              <a:t>KUZOG France SAS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98624" y="2743200"/>
            <a:ext cx="2377440" cy="640080"/>
          </a:xfrm>
          <a:prstGeom prst="rect">
            <a:avLst/>
          </a:prstGeom>
          <a:solidFill>
            <a:srgbClr val="F7F9F7"/>
          </a:solidFill>
          <a:ln w="190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8624" y="281635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419"/>
                </a:solidFill>
                <a:latin typeface="Helvetica Neue"/>
              </a:rPr>
              <a:t>Gibril Bachouchi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8624" y="307238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F8A4F"/>
                </a:solidFill>
                <a:latin typeface="Helvetica Neue"/>
              </a:rPr>
              <a:t>70%</a:t>
            </a:r>
          </a:p>
        </p:txBody>
      </p:sp>
      <p:sp>
        <p:nvSpPr>
          <p:cNvPr id="9" name="Rectangle 8"/>
          <p:cNvSpPr/>
          <p:nvPr/>
        </p:nvSpPr>
        <p:spPr>
          <a:xfrm>
            <a:off x="8016544" y="2743200"/>
            <a:ext cx="2377440" cy="640080"/>
          </a:xfrm>
          <a:prstGeom prst="rect">
            <a:avLst/>
          </a:prstGeom>
          <a:solidFill>
            <a:srgbClr val="F7F9F7"/>
          </a:solidFill>
          <a:ln w="190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16544" y="281635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419"/>
                </a:solidFill>
                <a:latin typeface="Helvetica Neue"/>
              </a:rPr>
              <a:t>Malik Bachouchi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6544" y="307238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F8A4F"/>
                </a:solidFill>
                <a:latin typeface="Helvetica Neue"/>
              </a:rPr>
              <a:t>30%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987344.0" y="2560320"/>
            <a:ext cx="0.0" cy="182880"/>
          </a:xfrm>
          <a:prstGeom prst="line">
            <a:avLst/>
          </a:prstGeom>
          <a:ln w="1524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987344.0" y="2560320"/>
            <a:ext cx="3108960.0" cy="0"/>
          </a:xfrm>
          <a:prstGeom prst="line">
            <a:avLst/>
          </a:prstGeom>
          <a:ln w="1524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096304" y="2011680"/>
            <a:ext cx="0" cy="548640"/>
          </a:xfrm>
          <a:prstGeom prst="line">
            <a:avLst/>
          </a:prstGeom>
          <a:ln w="1524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205264.0" y="2560320"/>
            <a:ext cx="0.0" cy="182880"/>
          </a:xfrm>
          <a:prstGeom prst="line">
            <a:avLst/>
          </a:prstGeom>
          <a:ln w="1524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096304" y="2560320"/>
            <a:ext cx="3108960.0" cy="0"/>
          </a:xfrm>
          <a:prstGeom prst="line">
            <a:avLst/>
          </a:prstGeom>
          <a:ln w="1524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096304" y="2011680"/>
            <a:ext cx="0" cy="548640"/>
          </a:xfrm>
          <a:prstGeom prst="line">
            <a:avLst/>
          </a:prstGeom>
          <a:ln w="1524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907584" y="4297680"/>
            <a:ext cx="2377440" cy="640080"/>
          </a:xfrm>
          <a:prstGeom prst="rect">
            <a:avLst/>
          </a:prstGeom>
          <a:solidFill>
            <a:srgbClr val="F0F5F1"/>
          </a:solidFill>
          <a:ln w="19050">
            <a:solidFill>
              <a:srgbClr val="7A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7584" y="445312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419"/>
                </a:solidFill>
                <a:latin typeface="Helvetica Neue"/>
              </a:rPr>
              <a:t>MICROPLANTES SAS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6304" y="2011680"/>
            <a:ext cx="0" cy="228600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798624" y="5029200"/>
            <a:ext cx="2377440" cy="640080"/>
          </a:xfrm>
          <a:prstGeom prst="rect">
            <a:avLst/>
          </a:prstGeom>
          <a:solidFill>
            <a:srgbClr val="F7F9F7"/>
          </a:solidFill>
          <a:ln w="190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98624" y="510235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419"/>
                </a:solidFill>
                <a:latin typeface="Helvetica Neue"/>
              </a:rPr>
              <a:t>KUZOG France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8624" y="535838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F8A4F"/>
                </a:solidFill>
                <a:latin typeface="Helvetica Neue"/>
              </a:rPr>
              <a:t>75–80%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16544" y="5029200"/>
            <a:ext cx="2377440" cy="640080"/>
          </a:xfrm>
          <a:prstGeom prst="rect">
            <a:avLst/>
          </a:prstGeom>
          <a:solidFill>
            <a:srgbClr val="F7F9F7"/>
          </a:solidFill>
          <a:ln w="190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16544" y="510235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419"/>
                </a:solidFill>
                <a:latin typeface="Helvetica Neue"/>
              </a:rPr>
              <a:t>External Investor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6544" y="535838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F8A4F"/>
                </a:solidFill>
                <a:latin typeface="Helvetica Neue"/>
              </a:rPr>
              <a:t>20–25%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2987344.0" y="4846320"/>
            <a:ext cx="0.0" cy="182880"/>
          </a:xfrm>
          <a:prstGeom prst="line">
            <a:avLst/>
          </a:prstGeom>
          <a:ln w="1524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987344.0" y="4846320"/>
            <a:ext cx="3108960.0" cy="0"/>
          </a:xfrm>
          <a:prstGeom prst="line">
            <a:avLst/>
          </a:prstGeom>
          <a:ln w="1524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96304" y="4846320"/>
            <a:ext cx="0" cy="91440"/>
          </a:xfrm>
          <a:prstGeom prst="line">
            <a:avLst/>
          </a:prstGeom>
          <a:ln w="1524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205264.0" y="4846320"/>
            <a:ext cx="0.0" cy="182880"/>
          </a:xfrm>
          <a:prstGeom prst="line">
            <a:avLst/>
          </a:prstGeom>
          <a:ln w="1524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6096304" y="4846320"/>
            <a:ext cx="3108960.0" cy="0"/>
          </a:xfrm>
          <a:prstGeom prst="line">
            <a:avLst/>
          </a:prstGeom>
          <a:ln w="1524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096304" y="4846320"/>
            <a:ext cx="0" cy="91440"/>
          </a:xfrm>
          <a:prstGeom prst="line">
            <a:avLst/>
          </a:prstGeom>
          <a:ln w="1524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